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1" r:id="rId8"/>
    <p:sldId id="262" r:id="rId9"/>
    <p:sldId id="263" r:id="rId10"/>
    <p:sldId id="264" r:id="rId11"/>
    <p:sldId id="259" r:id="rId12"/>
    <p:sldId id="265" r:id="rId13"/>
  </p:sldIdLst>
  <p:sldSz cx="9144000" cy="5143500"/>
  <p:notesSz cx="6858000" cy="9144000"/>
  <p:embeddedFontLst>
    <p:embeddedFont>
      <p:font typeface="Economica" panose="02000506040000020004"/>
      <p:regular r:id="rId17"/>
    </p:embeddedFont>
    <p:embeddedFont>
      <p:font typeface="Open Sans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11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11"/>
        <p:guide pos="2880"/>
      </p:guideLst>
    </p:cSldViewPr>
  </p:slide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c6f980f91_0_0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c6f980f91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c6f980f91_0_29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c6f980f91_0_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816b43944f_0_10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816b43944f_0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c6f980f91_0_37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c6f980f91_0_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16b43944f_0_1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16b43944f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16b43944f_0_26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16b43944f_0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16b43944f_0_33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16b43944f_0_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16b43944f_0_46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16b43944f_0_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16b43944f_0_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16b43944f_0_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 panose="02000506040000020004"/>
              <a:buNone/>
              <a:defRPr sz="21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 panose="02000506040000020004"/>
              <a:buNone/>
              <a:defRPr sz="21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 panose="02000506040000020004"/>
              <a:buNone/>
              <a:defRPr sz="21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 panose="02000506040000020004"/>
              <a:buNone/>
              <a:defRPr sz="21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 panose="02000506040000020004"/>
              <a:buNone/>
              <a:defRPr sz="21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 panose="02000506040000020004"/>
              <a:buNone/>
              <a:defRPr sz="21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 panose="02000506040000020004"/>
              <a:buNone/>
              <a:defRPr sz="21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 panose="02000506040000020004"/>
              <a:buNone/>
              <a:defRPr sz="21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 panose="02000506040000020004"/>
              <a:buNone/>
              <a:defRPr sz="21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 panose="02000506040000020004"/>
              <a:buNone/>
              <a:defRPr sz="2400"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" name="Google Shape;53;p11"/>
          <p:cNvSpPr txBox="1"/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 panose="02000506040000020004"/>
              <a:buNone/>
              <a:defRPr sz="4200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 panose="02000506040000020004"/>
                <a:ea typeface="Economica" panose="02000506040000020004"/>
                <a:cs typeface="Economica" panose="02000506040000020004"/>
                <a:sym typeface="Economica" panose="020005060400000200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2798445" y="1443990"/>
            <a:ext cx="3368040" cy="15373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45" b="1">
                <a:solidFill>
                  <a:schemeClr val="tx1"/>
                </a:solidFill>
                <a:latin typeface="Arial Bold" panose="020B0604020202090204" charset="0"/>
                <a:cs typeface="Arial Bold" panose="020B0604020202090204" charset="0"/>
              </a:rPr>
              <a:t>Business Performance Report</a:t>
            </a:r>
            <a:endParaRPr lang="en-GB" sz="4445" b="1">
              <a:solidFill>
                <a:schemeClr val="tx1"/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sp>
        <p:nvSpPr>
          <p:cNvPr id="63" name="Google Shape;63;p13"/>
          <p:cNvSpPr txBox="1"/>
          <p:nvPr>
            <p:ph type="subTitle" idx="1"/>
          </p:nvPr>
        </p:nvSpPr>
        <p:spPr>
          <a:xfrm>
            <a:off x="398145" y="3116580"/>
            <a:ext cx="6847840" cy="11652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716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+mn-lt"/>
                <a:cs typeface="+mn-lt"/>
              </a:rPr>
              <a:t>Prepared by:Samudika Jagodage</a:t>
            </a:r>
            <a:endParaRPr lang="en-GB"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654685" y="830580"/>
            <a:ext cx="8232775" cy="39401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>
                <a:latin typeface="+mn-lt"/>
                <a:cs typeface="+mn-lt"/>
              </a:rPr>
              <a:t> </a:t>
            </a:r>
            <a:endParaRPr sz="4000" b="1">
              <a:latin typeface="+mn-lt"/>
              <a:cs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80">
                <a:latin typeface="+mn-lt"/>
                <a:cs typeface="+mn-lt"/>
              </a:rPr>
              <a:t>Time Period</a:t>
            </a:r>
            <a:br>
              <a:rPr lang="en-US" altLang="en-US" sz="1780">
                <a:latin typeface="+mn-lt"/>
                <a:cs typeface="+mn-lt"/>
              </a:rPr>
            </a:br>
            <a:r>
              <a:rPr lang="en-US" altLang="en-US" sz="1780">
                <a:latin typeface="+mn-lt"/>
                <a:cs typeface="+mn-lt"/>
              </a:rPr>
              <a:t>	Start: 1/8/2016</a:t>
            </a:r>
            <a:br>
              <a:rPr lang="en-US" altLang="en-US" sz="1780">
                <a:latin typeface="+mn-lt"/>
                <a:cs typeface="+mn-lt"/>
              </a:rPr>
            </a:br>
            <a:r>
              <a:rPr lang="en-US" altLang="en-US" sz="1780">
                <a:latin typeface="+mn-lt"/>
                <a:cs typeface="+mn-lt"/>
              </a:rPr>
              <a:t>	End: 31/1/2017</a:t>
            </a:r>
            <a:br>
              <a:rPr lang="en-US" altLang="en-US" sz="1780">
                <a:latin typeface="+mn-lt"/>
                <a:cs typeface="+mn-lt"/>
              </a:rPr>
            </a:br>
            <a:br>
              <a:rPr lang="en-US" altLang="en-US" sz="1780">
                <a:latin typeface="+mn-lt"/>
                <a:cs typeface="+mn-lt"/>
              </a:rPr>
            </a:br>
            <a:r>
              <a:rPr lang="en-US" altLang="en-US" sz="1780">
                <a:latin typeface="+mn-lt"/>
                <a:cs typeface="+mn-lt"/>
              </a:rPr>
              <a:t>Countries: Germany, France, Portugal, Spain, Rest of the World</a:t>
            </a:r>
            <a:br>
              <a:rPr lang="en-US" altLang="en-US" sz="1780">
                <a:latin typeface="+mn-lt"/>
                <a:cs typeface="+mn-lt"/>
              </a:rPr>
            </a:br>
            <a:br>
              <a:rPr lang="en-US" altLang="en-US" sz="1780">
                <a:latin typeface="+mn-lt"/>
                <a:cs typeface="+mn-lt"/>
              </a:rPr>
            </a:br>
            <a:r>
              <a:rPr lang="en-US" altLang="en-US" sz="1780">
                <a:latin typeface="+mn-lt"/>
                <a:cs typeface="+mn-lt"/>
              </a:rPr>
              <a:t>Key Measures</a:t>
            </a:r>
            <a:br>
              <a:rPr lang="en-US" altLang="en-US" sz="1780">
                <a:latin typeface="+mn-lt"/>
                <a:cs typeface="+mn-lt"/>
              </a:rPr>
            </a:br>
            <a:r>
              <a:rPr lang="en-US" altLang="en-US" sz="1780">
                <a:latin typeface="+mn-lt"/>
                <a:cs typeface="+mn-lt"/>
              </a:rPr>
              <a:t>	Total Revenue = Total Sports Revenue + Total Casino Revenue</a:t>
            </a:r>
            <a:br>
              <a:rPr lang="en-US" altLang="en-US" sz="1780">
                <a:latin typeface="+mn-lt"/>
                <a:cs typeface="+mn-lt"/>
              </a:rPr>
            </a:br>
            <a:r>
              <a:rPr lang="en-US" altLang="en-US" sz="1780">
                <a:latin typeface="+mn-lt"/>
                <a:cs typeface="+mn-lt"/>
              </a:rPr>
              <a:t>	Total Customers </a:t>
            </a:r>
            <a:br>
              <a:rPr lang="en-US" altLang="en-US" sz="1780">
                <a:latin typeface="+mn-lt"/>
                <a:cs typeface="+mn-lt"/>
              </a:rPr>
            </a:br>
            <a:r>
              <a:rPr lang="en-US" altLang="en-US" sz="1780">
                <a:latin typeface="+mn-lt"/>
                <a:cs typeface="+mn-lt"/>
              </a:rPr>
              <a:t>	Total Signups</a:t>
            </a:r>
            <a:br>
              <a:rPr lang="en-US" altLang="en-US" sz="1780">
                <a:latin typeface="+mn-lt"/>
                <a:cs typeface="+mn-lt"/>
              </a:rPr>
            </a:br>
            <a:r>
              <a:rPr lang="en-US" altLang="en-US" sz="1780">
                <a:latin typeface="+mn-lt"/>
                <a:cs typeface="+mn-lt"/>
              </a:rPr>
              <a:t>	Total Deposit Amount</a:t>
            </a:r>
            <a:br>
              <a:rPr lang="en-US" altLang="en-US" sz="1780">
                <a:latin typeface="+mn-lt"/>
                <a:cs typeface="+mn-lt"/>
              </a:rPr>
            </a:br>
            <a:r>
              <a:rPr lang="en-US" altLang="en-US" sz="1780">
                <a:latin typeface="+mn-lt"/>
                <a:cs typeface="+mn-lt"/>
              </a:rPr>
              <a:t>Product-Level Metrics</a:t>
            </a:r>
            <a:br>
              <a:rPr lang="en-US" altLang="en-US" sz="1780">
                <a:latin typeface="+mn-lt"/>
                <a:cs typeface="+mn-lt"/>
              </a:rPr>
            </a:br>
            <a:r>
              <a:rPr lang="en-US" altLang="en-US" sz="1780">
                <a:latin typeface="+mn-lt"/>
                <a:cs typeface="+mn-lt"/>
              </a:rPr>
              <a:t>	Revenue and customers by:</a:t>
            </a:r>
            <a:br>
              <a:rPr lang="en-US" altLang="en-US" sz="1780">
                <a:latin typeface="+mn-lt"/>
                <a:cs typeface="+mn-lt"/>
              </a:rPr>
            </a:br>
            <a:r>
              <a:rPr lang="en-US" altLang="en-US" sz="1780">
                <a:latin typeface="+mn-lt"/>
                <a:cs typeface="+mn-lt"/>
              </a:rPr>
              <a:t>	Sports</a:t>
            </a:r>
            <a:br>
              <a:rPr lang="en-US" altLang="en-US" sz="1780">
                <a:latin typeface="+mn-lt"/>
                <a:cs typeface="+mn-lt"/>
              </a:rPr>
            </a:br>
            <a:r>
              <a:rPr lang="en-US" altLang="en-US" sz="1780">
                <a:latin typeface="+mn-lt"/>
                <a:cs typeface="+mn-lt"/>
              </a:rPr>
              <a:t>	Casino</a:t>
            </a:r>
            <a:endParaRPr lang="en-US" altLang="en-US" sz="1780">
              <a:latin typeface="+mn-lt"/>
              <a:cs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1780">
              <a:latin typeface="+mn-lt"/>
              <a:cs typeface="+mn-lt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179955" y="396240"/>
            <a:ext cx="47847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sz="3600" b="1">
                <a:latin typeface="+mj-lt"/>
                <a:cs typeface="+mj-lt"/>
                <a:sym typeface="+mn-ea"/>
              </a:rPr>
              <a:t>Data set Overview</a:t>
            </a:r>
            <a:endParaRPr lang="en-GB" sz="3600" b="1">
              <a:latin typeface="+mj-lt"/>
              <a:cs typeface="+mj-lt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645795" y="238760"/>
            <a:ext cx="7852410" cy="11626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latin typeface="Arial Bold" panose="020B0604020202090204" charset="0"/>
                <a:cs typeface="Arial Bold" panose="020B0604020202090204" charset="0"/>
              </a:rPr>
              <a:t>KPI Snapshot</a:t>
            </a:r>
            <a:endParaRPr lang="en-GB" sz="3600" b="1">
              <a:latin typeface="Arial Bold" panose="020B0604020202090204" charset="0"/>
              <a:cs typeface="Arial Bold" panose="020B0604020202090204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2167255" y="1224280"/>
          <a:ext cx="4808918" cy="3048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559685"/>
                <a:gridCol w="2249233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KPI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Value</a:t>
                      </a:r>
                      <a:endParaRPr 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Total Revenue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$124,241K</a:t>
                      </a:r>
                      <a:endParaRPr 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Total Casino Revenue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$99,710K</a:t>
                      </a:r>
                      <a:endParaRPr 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Total Sports Revenue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$24,531K</a:t>
                      </a:r>
                      <a:endParaRPr 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Total Deposit Amount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$324,574K</a:t>
                      </a:r>
                      <a:endParaRPr lang="en-US" sz="16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Total Customers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6,767K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>
                          <a:sym typeface="+mn-ea"/>
                        </a:rPr>
                        <a:t>Total Signups</a:t>
                      </a:r>
                      <a:endParaRPr lang="en-US" sz="16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407K</a:t>
                      </a:r>
                      <a:endParaRPr lang="en-US" sz="16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880745" y="2473325"/>
            <a:ext cx="3867150" cy="25869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chemeClr val="tx1"/>
                </a:solidFill>
                <a:latin typeface="Arial Bold" panose="020B0604020202090204" charset="0"/>
                <a:cs typeface="Arial Bold" panose="020B0604020202090204" charset="0"/>
              </a:rPr>
              <a:t>Trend Analysis</a:t>
            </a:r>
            <a:endParaRPr lang="en-GB" sz="3600" b="1">
              <a:solidFill>
                <a:schemeClr val="tx1"/>
              </a:solidFill>
              <a:latin typeface="Arial Bold" panose="020B0604020202090204" charset="0"/>
              <a:cs typeface="Arial Bold" panose="020B0604020202090204" charset="0"/>
            </a:endParaRPr>
          </a:p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900"/>
          </a:p>
          <a:p>
            <a:pPr marL="22860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/>
          </a:p>
          <a:p>
            <a:pPr marL="22860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/>
          </a:p>
          <a:p>
            <a:pPr marL="22860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/>
          </a:p>
          <a:p>
            <a:pPr marL="13716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2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612300" y="1380490"/>
            <a:ext cx="5440750" cy="334177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>
            <p:ph type="body" idx="4294967295"/>
          </p:nvPr>
        </p:nvSpPr>
        <p:spPr>
          <a:xfrm>
            <a:off x="272695" y="1380290"/>
            <a:ext cx="3422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0000"/>
          </a:bodyPr>
          <a:lstStyle/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GB" sz="2285">
                <a:latin typeface="+mn-lt"/>
                <a:cs typeface="+mn-lt"/>
              </a:rPr>
              <a:t>Sudden decline in Nov 2016 driven by declines in both sportsbook and casino.</a:t>
            </a:r>
            <a:endParaRPr sz="2285">
              <a:latin typeface="+mn-lt"/>
              <a:cs typeface="+mn-l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2285">
                <a:latin typeface="+mn-lt"/>
                <a:cs typeface="+mn-lt"/>
              </a:rPr>
              <a:t>Strong recovery in Dec 2016, with growth across both segments.</a:t>
            </a:r>
            <a:endParaRPr sz="2285">
              <a:latin typeface="+mn-lt"/>
              <a:cs typeface="+mn-lt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2285">
                <a:latin typeface="+mn-lt"/>
                <a:cs typeface="+mn-lt"/>
              </a:rPr>
              <a:t>Revenue dropped again in Jan 2017, mainly due to a fall in casino performance.</a:t>
            </a:r>
            <a:endParaRPr sz="2285">
              <a:latin typeface="+mn-lt"/>
              <a:cs typeface="+mn-lt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285">
              <a:latin typeface="+mn-lt"/>
              <a:cs typeface="+mn-lt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09600" y="546100"/>
            <a:ext cx="50673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sz="3200" b="1">
                <a:solidFill>
                  <a:schemeClr val="dk1"/>
                </a:solidFill>
                <a:latin typeface="+mj-lt"/>
                <a:cs typeface="+mj-lt"/>
                <a:sym typeface="+mn-ea"/>
              </a:rPr>
              <a:t>Product Wise Revenue </a:t>
            </a:r>
            <a:endParaRPr sz="3200" b="1">
              <a:latin typeface="+mj-lt"/>
              <a:cs typeface="+mj-lt"/>
            </a:endParaRPr>
          </a:p>
          <a:p>
            <a:endParaRPr lang="en-US" sz="3200"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body" idx="4294967295"/>
          </p:nvPr>
        </p:nvSpPr>
        <p:spPr>
          <a:xfrm>
            <a:off x="201295" y="1306195"/>
            <a:ext cx="3267075" cy="38373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2580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sz="1600">
                <a:latin typeface="+mn-lt"/>
                <a:cs typeface="+mn-lt"/>
              </a:rPr>
              <a:t>Nov 2016 Total revenue declined, primarily due to decreases in Germany and France</a:t>
            </a:r>
            <a:endParaRPr lang="en-GB" sz="1600">
              <a:latin typeface="+mn-lt"/>
              <a:cs typeface="+mn-lt"/>
            </a:endParaRPr>
          </a:p>
          <a:p>
            <a:pPr marL="457200" lvl="0" indent="-322580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sz="1600">
                <a:latin typeface="+mn-lt"/>
                <a:cs typeface="+mn-lt"/>
              </a:rPr>
              <a:t>Portugal and Spain showed a consistent declining trend throughout this period.</a:t>
            </a:r>
            <a:endParaRPr sz="1600">
              <a:latin typeface="+mn-lt"/>
              <a:cs typeface="+mn-lt"/>
            </a:endParaRPr>
          </a:p>
          <a:p>
            <a:pPr marL="457200" lvl="0" indent="-322580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altLang="en-GB" sz="1600">
                <a:latin typeface="+mn-lt"/>
                <a:cs typeface="+mn-lt"/>
              </a:rPr>
              <a:t>January</a:t>
            </a:r>
            <a:r>
              <a:rPr lang="en-GB" sz="1600">
                <a:latin typeface="+mn-lt"/>
                <a:cs typeface="+mn-lt"/>
              </a:rPr>
              <a:t> 201</a:t>
            </a:r>
            <a:r>
              <a:rPr lang="en-US" altLang="en-GB" sz="1600">
                <a:latin typeface="+mn-lt"/>
                <a:cs typeface="+mn-lt"/>
              </a:rPr>
              <a:t>7</a:t>
            </a:r>
            <a:r>
              <a:rPr lang="en-GB" sz="1600">
                <a:latin typeface="+mn-lt"/>
                <a:cs typeface="+mn-lt"/>
              </a:rPr>
              <a:t> Revenue drop was mainly driven by Germany and Countries in the rest of the world</a:t>
            </a:r>
            <a:endParaRPr sz="1600">
              <a:latin typeface="+mn-lt"/>
              <a:cs typeface="+mn-lt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latin typeface="+mn-lt"/>
              <a:cs typeface="+mn-lt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>
              <a:latin typeface="+mn-lt"/>
              <a:cs typeface="+mn-lt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69925" y="311150"/>
            <a:ext cx="360870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>
                <a:latin typeface="Arial Bold" panose="020B0604020202090204" charset="0"/>
                <a:cs typeface="Arial Bold" panose="020B0604020202090204" charset="0"/>
              </a:rPr>
              <a:t>Country Wise Revenue</a:t>
            </a:r>
            <a:endParaRPr lang="en-US" sz="3200" b="1">
              <a:latin typeface="Arial Bold" panose="020B0604020202090204" charset="0"/>
              <a:cs typeface="Arial Bold" panose="020B0604020202090204" charset="0"/>
            </a:endParaRPr>
          </a:p>
        </p:txBody>
      </p:sp>
      <p:pic>
        <p:nvPicPr>
          <p:cNvPr id="2" name="slide2" descr="Revenue by Country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630" y="0"/>
            <a:ext cx="3874770" cy="2385060"/>
          </a:xfrm>
          <a:prstGeom prst="rect">
            <a:avLst/>
          </a:prstGeom>
        </p:spPr>
      </p:pic>
      <p:pic>
        <p:nvPicPr>
          <p:cNvPr id="1" name="slide2" descr="country_sportsbookrevenu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265" y="2149475"/>
            <a:ext cx="4864735" cy="2994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body" idx="4294967295"/>
          </p:nvPr>
        </p:nvSpPr>
        <p:spPr>
          <a:xfrm>
            <a:off x="261350" y="1725500"/>
            <a:ext cx="4620300" cy="28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 lnSpcReduction="20000"/>
          </a:bodyPr>
          <a:lstStyle/>
          <a:p>
            <a:pPr marL="457200" lvl="0" indent="-299720" algn="l" rtl="0">
              <a:spcBef>
                <a:spcPts val="1200"/>
              </a:spcBef>
              <a:spcAft>
                <a:spcPts val="0"/>
              </a:spcAft>
              <a:buSzPct val="89000"/>
              <a:buChar char="●"/>
            </a:pPr>
            <a:r>
              <a:rPr lang="en-GB" sz="1780">
                <a:latin typeface="+mn-lt"/>
                <a:cs typeface="+mn-lt"/>
              </a:rPr>
              <a:t>November 2016</a:t>
            </a:r>
            <a:r>
              <a:rPr lang="en-US" altLang="en-GB" sz="1780">
                <a:latin typeface="+mn-lt"/>
                <a:cs typeface="+mn-lt"/>
              </a:rPr>
              <a:t> </a:t>
            </a:r>
            <a:r>
              <a:rPr lang="en-GB" sz="1780">
                <a:latin typeface="+mn-lt"/>
                <a:cs typeface="+mn-lt"/>
              </a:rPr>
              <a:t>Casino and sportsbook customer numbers remained stable, so there might not be an impact on revenue from customers</a:t>
            </a:r>
            <a:endParaRPr lang="en-GB" sz="1780">
              <a:latin typeface="+mn-lt"/>
              <a:cs typeface="+mn-lt"/>
            </a:endParaRPr>
          </a:p>
          <a:p>
            <a:pPr marL="457200" lvl="0" indent="-299720" algn="l" rtl="0">
              <a:spcBef>
                <a:spcPts val="0"/>
              </a:spcBef>
              <a:spcAft>
                <a:spcPts val="0"/>
              </a:spcAft>
              <a:buSzPct val="89000"/>
              <a:buChar char="●"/>
            </a:pPr>
            <a:r>
              <a:rPr lang="en-GB" sz="1780">
                <a:latin typeface="+mn-lt"/>
                <a:cs typeface="+mn-lt"/>
              </a:rPr>
              <a:t>Number of customers show gradual increase over the period (There's only slight drop of </a:t>
            </a:r>
            <a:r>
              <a:rPr lang="en-US" altLang="en-GB" sz="1780">
                <a:latin typeface="+mn-lt"/>
                <a:cs typeface="+mn-lt"/>
              </a:rPr>
              <a:t>sportsbook</a:t>
            </a:r>
            <a:r>
              <a:rPr lang="en-GB" sz="1780">
                <a:latin typeface="+mn-lt"/>
                <a:cs typeface="+mn-lt"/>
              </a:rPr>
              <a:t> customers in December</a:t>
            </a:r>
            <a:r>
              <a:rPr lang="en-US" altLang="en-GB" sz="1780">
                <a:latin typeface="+mn-lt"/>
                <a:cs typeface="+mn-lt"/>
              </a:rPr>
              <a:t> 2016, January 2017</a:t>
            </a:r>
            <a:r>
              <a:rPr lang="en-GB" sz="1780">
                <a:latin typeface="+mn-lt"/>
                <a:cs typeface="+mn-lt"/>
              </a:rPr>
              <a:t>)</a:t>
            </a:r>
            <a:endParaRPr lang="en-GB" sz="1780">
              <a:latin typeface="+mn-lt"/>
              <a:cs typeface="+mn-lt"/>
            </a:endParaRPr>
          </a:p>
          <a:p>
            <a:pPr marL="457200" lvl="0" indent="-299720" algn="l" rtl="0">
              <a:spcBef>
                <a:spcPts val="0"/>
              </a:spcBef>
              <a:spcAft>
                <a:spcPts val="0"/>
              </a:spcAft>
              <a:buSzPct val="89000"/>
              <a:buChar char="●"/>
            </a:pPr>
            <a:r>
              <a:rPr lang="en-GB" sz="1780">
                <a:latin typeface="+mn-lt"/>
                <a:cs typeface="+mn-lt"/>
              </a:rPr>
              <a:t>Germany and France: Despite an increase in the number of customers, Casino revenue declined in November</a:t>
            </a:r>
            <a:endParaRPr lang="en-GB" sz="1780">
              <a:latin typeface="+mn-lt"/>
              <a:cs typeface="+mn-lt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80">
              <a:latin typeface="+mn-lt"/>
              <a:cs typeface="+mn-lt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780">
              <a:latin typeface="+mn-lt"/>
              <a:cs typeface="+mn-lt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23875" y="156845"/>
            <a:ext cx="486600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sz="3200" b="1">
                <a:solidFill>
                  <a:schemeClr val="dk1"/>
                </a:solidFill>
                <a:latin typeface="+mj-lt"/>
                <a:cs typeface="+mj-lt"/>
                <a:sym typeface="+mn-ea"/>
              </a:rPr>
              <a:t>Customers by Country and Segment</a:t>
            </a:r>
            <a:endParaRPr sz="3200" b="1">
              <a:latin typeface="+mj-lt"/>
              <a:cs typeface="+mj-lt"/>
            </a:endParaRPr>
          </a:p>
          <a:p>
            <a:endParaRPr lang="en-US" sz="3200" b="1">
              <a:latin typeface="+mj-lt"/>
              <a:cs typeface="+mj-lt"/>
            </a:endParaRPr>
          </a:p>
        </p:txBody>
      </p:sp>
      <p:pic>
        <p:nvPicPr>
          <p:cNvPr id="3" name="slide2" descr="Customers by Country and Segment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280" y="2623185"/>
            <a:ext cx="4095115" cy="2520950"/>
          </a:xfrm>
          <a:prstGeom prst="rect">
            <a:avLst/>
          </a:prstGeom>
        </p:spPr>
      </p:pic>
      <p:pic>
        <p:nvPicPr>
          <p:cNvPr id="1" name="slide2" descr="Customer Segment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280" y="371475"/>
            <a:ext cx="3729355" cy="22517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body" idx="4294967295"/>
          </p:nvPr>
        </p:nvSpPr>
        <p:spPr>
          <a:xfrm>
            <a:off x="200660" y="1188085"/>
            <a:ext cx="4378960" cy="27666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+mn-lt"/>
                <a:cs typeface="+mn-lt"/>
              </a:rPr>
              <a:t> </a:t>
            </a:r>
            <a:endParaRPr sz="1600">
              <a:latin typeface="+mn-lt"/>
              <a:cs typeface="+mn-lt"/>
            </a:endParaRPr>
          </a:p>
          <a:p>
            <a:pPr marL="457200" lvl="0" indent="-322580" algn="l" rtl="0">
              <a:spcBef>
                <a:spcPts val="1200"/>
              </a:spcBef>
              <a:spcAft>
                <a:spcPts val="0"/>
              </a:spcAft>
              <a:buSzPct val="89000"/>
              <a:buChar char="●"/>
            </a:pPr>
            <a:r>
              <a:rPr lang="en-GB" sz="1600">
                <a:latin typeface="+mn-lt"/>
                <a:cs typeface="+mn-lt"/>
              </a:rPr>
              <a:t>Germany’s deposits increased in December. This might have a contribution to increase of revenue</a:t>
            </a:r>
            <a:endParaRPr lang="en-GB" sz="1600">
              <a:latin typeface="+mn-lt"/>
              <a:cs typeface="+mn-lt"/>
            </a:endParaRPr>
          </a:p>
          <a:p>
            <a:pPr marL="457200" lvl="0" indent="-322580" algn="l" rtl="0">
              <a:spcBef>
                <a:spcPts val="0"/>
              </a:spcBef>
              <a:spcAft>
                <a:spcPts val="0"/>
              </a:spcAft>
              <a:buSzPct val="89000"/>
              <a:buChar char="●"/>
            </a:pPr>
            <a:r>
              <a:rPr lang="en-GB" sz="1600">
                <a:latin typeface="+mn-lt"/>
                <a:cs typeface="+mn-lt"/>
              </a:rPr>
              <a:t>In January, deposits decreased slightly, this might have lead to the minor drop in revenue.</a:t>
            </a:r>
            <a:endParaRPr lang="en-GB" sz="1600">
              <a:latin typeface="+mn-lt"/>
              <a:cs typeface="+mn-lt"/>
            </a:endParaRPr>
          </a:p>
          <a:p>
            <a:pPr marL="457200" lvl="0" indent="-322580" algn="l" rtl="0">
              <a:spcBef>
                <a:spcPts val="0"/>
              </a:spcBef>
              <a:spcAft>
                <a:spcPts val="0"/>
              </a:spcAft>
              <a:buSzPct val="89000"/>
              <a:buChar char="●"/>
            </a:pPr>
            <a:r>
              <a:rPr lang="en-GB" sz="1600">
                <a:latin typeface="+mn-lt"/>
                <a:cs typeface="+mn-lt"/>
              </a:rPr>
              <a:t>However, the revenue decline in November was not driven by deposits, indicating other factors influenced the decrease.</a:t>
            </a:r>
            <a:endParaRPr lang="en-GB" sz="1600">
              <a:latin typeface="+mn-lt"/>
              <a:cs typeface="+mn-l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latin typeface="+mn-lt"/>
              <a:cs typeface="+mn-lt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latin typeface="+mn-lt"/>
              <a:cs typeface="+mn-lt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300">
              <a:latin typeface="+mn-lt"/>
              <a:cs typeface="+mn-lt"/>
            </a:endParaRPr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650225" y="1573500"/>
            <a:ext cx="4493774" cy="276715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575310" y="309245"/>
            <a:ext cx="74015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sz="3200" b="1">
                <a:solidFill>
                  <a:schemeClr val="dk1"/>
                </a:solidFill>
                <a:latin typeface="Arial Bold" panose="020B0604020202090204" charset="0"/>
                <a:cs typeface="Arial Bold" panose="020B0604020202090204" charset="0"/>
                <a:sym typeface="+mn-ea"/>
              </a:rPr>
              <a:t>Country Wise Deposit Trend Analysis </a:t>
            </a:r>
            <a:endParaRPr sz="3200" b="1">
              <a:latin typeface="Arial Bold" panose="020B0604020202090204" charset="0"/>
              <a:cs typeface="Arial Bold" panose="020B0604020202090204" charset="0"/>
            </a:endParaRPr>
          </a:p>
          <a:p>
            <a:endParaRPr lang="en-US" sz="3200" b="1">
              <a:latin typeface="Arial Bold" panose="020B0604020202090204" charset="0"/>
              <a:cs typeface="Arial Bold" panose="020B060402020209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Casino and Sports Performance Dashboar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45"/>
            <a:ext cx="9144000" cy="5140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sz="3600" b="1">
                <a:latin typeface="Arial Bold" panose="020B0604020202090204" charset="0"/>
                <a:cs typeface="Arial Bold" panose="020B0604020202090204" charset="0"/>
              </a:rPr>
              <a:t>THANK YOU</a:t>
            </a:r>
            <a:endParaRPr lang="en-US" sz="3600" b="1">
              <a:latin typeface="Arial Bold" panose="020B0604020202090204" charset="0"/>
              <a:cs typeface="Arial Bold" panose="020B060402020209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1816</Words>
  <Application>WPS Writer</Application>
  <PresentationFormat/>
  <Paragraphs>85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Arial</vt:lpstr>
      <vt:lpstr>Economica</vt:lpstr>
      <vt:lpstr>Open Sans</vt:lpstr>
      <vt:lpstr>Arial Bold</vt:lpstr>
      <vt:lpstr>Microsoft YaHei</vt:lpstr>
      <vt:lpstr>汉仪旗黑</vt:lpstr>
      <vt:lpstr>Arial Unicode MS</vt:lpstr>
      <vt:lpstr>宋体-简</vt:lpstr>
      <vt:lpstr>Luxe</vt:lpstr>
      <vt:lpstr>Business Performance Report</vt:lpstr>
      <vt:lpstr>Time Period 	Start: 1/8/2016 	End: 31/1/2017  Countries: Germany, France, Portugal, Spain, Rest of the World  Key Measures 	Total Revenue = Total Sports Revenue + Total Casino Revenue 	Total Customers  	Total Signups 	Total Deposit Amount Product-Level Metrics 	Revenue and customers by: 	Sports 	Casino</vt:lpstr>
      <vt:lpstr>KPI Snapshot</vt:lpstr>
      <vt:lpstr>Trend Analysis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Performance Report</dc:title>
  <dc:creator/>
  <cp:lastModifiedBy>samudikaweerasinghe</cp:lastModifiedBy>
  <cp:revision>17</cp:revision>
  <dcterms:created xsi:type="dcterms:W3CDTF">2025-09-24T19:57:32Z</dcterms:created>
  <dcterms:modified xsi:type="dcterms:W3CDTF">2025-09-24T19:57:32Z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B789A07C330000D4B34BD068EA2E039A_42</vt:lpwstr>
  </property>
  <property fmtid="{D5CDD505-2E9C-101B-9397-08002B2CF9AE}" pid="3" name="KSOProductBuildVer">
    <vt:lpwstr>1033-12.1.21937.21937</vt:lpwstr>
  </property>
</Properties>
</file>